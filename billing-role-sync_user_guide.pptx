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34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200" y="8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19870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100584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9FD3E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UTILIZATION GUIDE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請求先IAM権限 同期ツール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1024128" y="2880360"/>
            <a:ext cx="10424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9FD3E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利用ガイド ― 迷わず使うための操作マニュアル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1024128" y="3840480"/>
            <a:ext cx="2286000" cy="457200"/>
          </a:xfrm>
          <a:prstGeom prst="roundRect">
            <a:avLst>
              <a:gd name="adj" fmla="val 50000"/>
            </a:avLst>
          </a:prstGeom>
          <a:solidFill>
            <a:srgbClr val="13344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1024128" y="3840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D3E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対象: 利用者・担当者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456432" y="3840480"/>
            <a:ext cx="2743200" cy="457200"/>
          </a:xfrm>
          <a:prstGeom prst="roundRect">
            <a:avLst>
              <a:gd name="adj" fmla="val 50000"/>
            </a:avLst>
          </a:prstGeom>
          <a:solidFill>
            <a:srgbClr val="13344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3456432" y="3840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D3E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Cloud Shell / Cloud Console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345936" y="384048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13344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345936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FD3E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コマンド任意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05840" y="5852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E86A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billing-role-sync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3840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950976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OVERVIEW ・ 概要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このツールでできること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billing-role-sync 利用ガイド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顧客に付与されている過剰な権限 roles/billing.admin を、必要十分な最小権限へ自動で置き換えます。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14600"/>
            <a:ext cx="3200400" cy="1417320"/>
          </a:xfrm>
          <a:prstGeom prst="roundRect">
            <a:avLst>
              <a:gd name="adj" fmla="val 5161"/>
            </a:avLst>
          </a:prstGeom>
          <a:solidFill>
            <a:srgbClr val="F1F5F9"/>
          </a:solidFill>
          <a:ln w="12700">
            <a:solidFill>
              <a:srgbClr val="E7C3B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40080" y="26791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23B2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変更前（過剰）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31546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roles/billing.admin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40080" y="35661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請求先アカウント管理者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77640" y="2967228"/>
            <a:ext cx="777240" cy="512064"/>
          </a:xfrm>
          <a:prstGeom prst="rightArrow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1"/>
          <p:cNvSpPr/>
          <p:nvPr/>
        </p:nvSpPr>
        <p:spPr>
          <a:xfrm>
            <a:off x="4892040" y="2514600"/>
            <a:ext cx="6659575" cy="1417320"/>
          </a:xfrm>
          <a:prstGeom prst="roundRect">
            <a:avLst>
              <a:gd name="adj" fmla="val 5161"/>
            </a:avLst>
          </a:prstGeom>
          <a:solidFill>
            <a:srgbClr val="EAF6F0"/>
          </a:solidFill>
          <a:ln w="12700">
            <a:solidFill>
              <a:srgbClr val="C2E3D2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892040" y="2679192"/>
            <a:ext cx="66595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E9E6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変更後（最小権限）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66360" y="3172968"/>
            <a:ext cx="197601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E0C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5166360" y="3172968"/>
            <a:ext cx="19760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user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233818" y="3172968"/>
            <a:ext cx="197601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E0C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7233818" y="3172968"/>
            <a:ext cx="19760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viewer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301277" y="3172968"/>
            <a:ext cx="1976018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BFE0CF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9301277" y="3172968"/>
            <a:ext cx="197601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costsManager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" y="429768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EEF3"/>
            </a:solidFill>
            <a:prstDash val="solid"/>
          </a:ln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640080" y="4498848"/>
            <a:ext cx="128016" cy="329184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932688" y="4462272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対象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32688" y="4956048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親請求先アカウント配下の全サブアカウントの user: メンバー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68698" y="429768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EEF3"/>
            </a:solidFill>
            <a:prstDash val="solid"/>
          </a:ln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24"/>
          <p:cNvSpPr/>
          <p:nvPr/>
        </p:nvSpPr>
        <p:spPr>
          <a:xfrm>
            <a:off x="4368698" y="4498848"/>
            <a:ext cx="128016" cy="329184"/>
          </a:xfrm>
          <a:prstGeom prst="rect">
            <a:avLst/>
          </a:prstGeom>
          <a:solidFill>
            <a:srgbClr val="64748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7" name="Text 25"/>
          <p:cNvSpPr/>
          <p:nvPr/>
        </p:nvSpPr>
        <p:spPr>
          <a:xfrm>
            <a:off x="4661306" y="4462272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除外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4661306" y="4956048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自社ドメインのユーザー（運用管理者）はそのまま維持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097317" y="429768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E8EEF3"/>
            </a:solidFill>
            <a:prstDash val="solid"/>
          </a:ln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0" name="Shape 28"/>
          <p:cNvSpPr/>
          <p:nvPr/>
        </p:nvSpPr>
        <p:spPr>
          <a:xfrm>
            <a:off x="8097317" y="4498848"/>
            <a:ext cx="128016" cy="329184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1" name="Text 29"/>
          <p:cNvSpPr/>
          <p:nvPr/>
        </p:nvSpPr>
        <p:spPr>
          <a:xfrm>
            <a:off x="8389925" y="4462272"/>
            <a:ext cx="29970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絞り込み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8389925" y="4956048"/>
            <a:ext cx="290565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特定の顧客ドメインだけを対象にすることも可能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3840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950976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SAFETY ・ 安全設計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安心して使えるしくみ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billing-role-sync 利用ガイド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権限変更は「うっかり」では起きない設計です。基本は確認だけ、本番は二重の関門があります。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560320"/>
            <a:ext cx="2453564" cy="3108960"/>
          </a:xfrm>
          <a:prstGeom prst="roundRect">
            <a:avLst>
              <a:gd name="adj" fmla="val 3354"/>
            </a:avLst>
          </a:prstGeom>
          <a:solidFill>
            <a:srgbClr val="FFFFFF"/>
          </a:solidFill>
          <a:ln w="12700">
            <a:solidFill>
              <a:srgbClr val="E8EEF3"/>
            </a:solidFill>
            <a:prstDash val="solid"/>
          </a:ln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960120" y="2926080"/>
            <a:ext cx="777240" cy="77724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960120" y="2926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①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914400" y="3931920"/>
            <a:ext cx="1904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既定は Dry-Run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914400" y="4526280"/>
            <a:ext cx="19506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何もしなければ「対象を表示するだけ」。実際の権限は変わりません。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3459404" y="2560320"/>
            <a:ext cx="2453564" cy="3108960"/>
          </a:xfrm>
          <a:prstGeom prst="roundRect">
            <a:avLst>
              <a:gd name="adj" fmla="val 3354"/>
            </a:avLst>
          </a:prstGeom>
          <a:solidFill>
            <a:srgbClr val="FFFFFF"/>
          </a:solidFill>
          <a:ln w="12700">
            <a:solidFill>
              <a:srgbClr val="E8EEF3"/>
            </a:solidFill>
            <a:prstDash val="solid"/>
          </a:ln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2"/>
          <p:cNvSpPr/>
          <p:nvPr/>
        </p:nvSpPr>
        <p:spPr>
          <a:xfrm>
            <a:off x="3779444" y="2926080"/>
            <a:ext cx="777240" cy="77724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3779444" y="2926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②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733724" y="3931920"/>
            <a:ext cx="1904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本番は明示が必須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3733724" y="4526280"/>
            <a:ext cx="19506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apply（APPLY_MODE=true）を自分で指定したときだけ変更します。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78728" y="2560320"/>
            <a:ext cx="2453564" cy="3108960"/>
          </a:xfrm>
          <a:prstGeom prst="roundRect">
            <a:avLst>
              <a:gd name="adj" fmla="val 3354"/>
            </a:avLst>
          </a:prstGeom>
          <a:solidFill>
            <a:srgbClr val="FFFFFF"/>
          </a:solidFill>
          <a:ln w="12700">
            <a:solidFill>
              <a:srgbClr val="E8EEF3"/>
            </a:solidFill>
            <a:prstDash val="solid"/>
          </a:ln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7"/>
          <p:cNvSpPr/>
          <p:nvPr/>
        </p:nvSpPr>
        <p:spPr>
          <a:xfrm>
            <a:off x="6598768" y="2926080"/>
            <a:ext cx="777240" cy="777240"/>
          </a:xfrm>
          <a:prstGeom prst="ellipse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6598768" y="2926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③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6553048" y="3931920"/>
            <a:ext cx="1904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実行前に確認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6553048" y="4526280"/>
            <a:ext cx="19506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make run-apply は対象一覧を見せ、yes と入力するまで実行しません。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9098051" y="2560320"/>
            <a:ext cx="2453564" cy="3108960"/>
          </a:xfrm>
          <a:prstGeom prst="roundRect">
            <a:avLst>
              <a:gd name="adj" fmla="val 3354"/>
            </a:avLst>
          </a:prstGeom>
          <a:solidFill>
            <a:srgbClr val="FFFFFF"/>
          </a:solidFill>
          <a:ln w="12700">
            <a:solidFill>
              <a:srgbClr val="E8EEF3"/>
            </a:solidFill>
            <a:prstDash val="solid"/>
          </a:ln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4" name="Shape 22"/>
          <p:cNvSpPr/>
          <p:nvPr/>
        </p:nvSpPr>
        <p:spPr>
          <a:xfrm>
            <a:off x="9418091" y="2926080"/>
            <a:ext cx="777240" cy="777240"/>
          </a:xfrm>
          <a:prstGeom prst="ellipse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9418091" y="292608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④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9372371" y="3931920"/>
            <a:ext cx="19049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全ログを保存</a:t>
            </a:r>
            <a:endParaRPr lang="en-US" sz="1700" dirty="0"/>
          </a:p>
        </p:txBody>
      </p:sp>
      <p:sp>
        <p:nvSpPr>
          <p:cNvPr id="27" name="Text 25"/>
          <p:cNvSpPr/>
          <p:nvPr/>
        </p:nvSpPr>
        <p:spPr>
          <a:xfrm>
            <a:off x="9372371" y="4526280"/>
            <a:ext cx="19506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誰が・いつ・何をしたかを GCS に自動保存（365日保管）。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3840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950976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HOW TO RUN ・ 使い方の選択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2つの実行方法 ― どちらでもOK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billing-role-sync 利用ガイド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やりたいことは同じ（ジョブの実行）。あなたに合うほうを選んでください。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423160"/>
            <a:ext cx="5181448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5400">
            <a:solidFill>
              <a:srgbClr val="065A82"/>
            </a:solidFill>
            <a:prstDash val="solid"/>
          </a:ln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Shape 7"/>
          <p:cNvSpPr/>
          <p:nvPr/>
        </p:nvSpPr>
        <p:spPr>
          <a:xfrm>
            <a:off x="640080" y="2423160"/>
            <a:ext cx="5181448" cy="868680"/>
          </a:xfrm>
          <a:prstGeom prst="roundRect">
            <a:avLst>
              <a:gd name="adj" fmla="val 10526"/>
            </a:avLst>
          </a:prstGeom>
          <a:solidFill>
            <a:srgbClr val="065A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5181448" cy="36576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960120" y="2532888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D3E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方法 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960120" y="2834640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Cloud Shell で make コマンド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4221328" y="2670048"/>
            <a:ext cx="1325880" cy="384048"/>
          </a:xfrm>
          <a:prstGeom prst="roundRect">
            <a:avLst>
              <a:gd name="adj" fmla="val 50000"/>
            </a:avLst>
          </a:prstGeom>
          <a:solidFill>
            <a:srgbClr val="9FD3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2"/>
          <p:cNvSpPr/>
          <p:nvPr/>
        </p:nvSpPr>
        <p:spPr>
          <a:xfrm>
            <a:off x="4221328" y="2670048"/>
            <a:ext cx="1325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B4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推奨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051560" y="3566160"/>
            <a:ext cx="44499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ブラウザだけで完結（インストール不要）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make run / run-apply / logs が使える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確認プロンプトなど安全機能をフル活用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初回のみ git clone が必要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370168" y="2423160"/>
            <a:ext cx="5181448" cy="374904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370168" y="2423160"/>
            <a:ext cx="5181448" cy="868680"/>
          </a:xfrm>
          <a:prstGeom prst="roundRect">
            <a:avLst>
              <a:gd name="adj" fmla="val 10526"/>
            </a:avLst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Shape 16"/>
          <p:cNvSpPr/>
          <p:nvPr/>
        </p:nvSpPr>
        <p:spPr>
          <a:xfrm>
            <a:off x="6370168" y="2926080"/>
            <a:ext cx="5181448" cy="36576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6690208" y="2532888"/>
            <a:ext cx="4267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D3E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方法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690208" y="2834640"/>
            <a:ext cx="4267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Cloud Console から直接実行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9677095" y="2670048"/>
            <a:ext cx="1600200" cy="384048"/>
          </a:xfrm>
          <a:prstGeom prst="roundRect">
            <a:avLst>
              <a:gd name="adj" fmla="val 50000"/>
            </a:avLst>
          </a:prstGeom>
          <a:solidFill>
            <a:srgbClr val="9FD3E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9677095" y="2670048"/>
            <a:ext cx="1600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B2B45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コマンド不要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781648" y="3566160"/>
            <a:ext cx="444992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ブラウザのボタン操作だけで実行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git clone も make も不要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環境変数の設定で Dry-Run / 本番を切替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確認プロンプトは出ない（要・事前確認）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3840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950976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ACCESS ・ 利用開始の準備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はじめる前に：必要な権限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billing-role-sync 利用ガイド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利用者は2つの権限だけで使えます。未設定なら管理者に下記の付与を依頼してください。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514600"/>
          <a:ext cx="10911535" cy="224028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963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ロール</a:t>
                      </a:r>
                      <a:endParaRPr lang="en-US" sz="14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付与対象</a:t>
                      </a:r>
                      <a:endParaRPr lang="en-US" sz="14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できること</a:t>
                      </a:r>
                      <a:endParaRPr lang="en-US" sz="14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roles/run.invoker</a:t>
                      </a:r>
                      <a:endParaRPr lang="en-US" sz="13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Cloud Run Job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billing-role-sync-job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ジョブ（Dry-Run / 本番）の実行</a:t>
                      </a:r>
                      <a:endParaRPr lang="en-US" sz="13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86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roles/storage.objectViewer</a:t>
                      </a:r>
                      <a:endParaRPr lang="en-US" sz="130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GCS ログバケット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  <a:p>
                      <a:pPr marL="0" indent="0" algn="l">
                        <a:buNone/>
                      </a:pPr>
                      <a:r>
                        <a:rPr lang="en-US" sz="1250" dirty="0">
                          <a:solidFill>
                            <a:srgbClr val="1E293B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{project}-billing-role-sync-logs</a:t>
                      </a:r>
                      <a:endParaRPr lang="en-US" sz="12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1E293B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実行ログの閲覧（make logs）</a:t>
                      </a:r>
                      <a:endParaRPr lang="en-US" sz="13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120640"/>
            <a:ext cx="10911535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640080" y="5285232"/>
            <a:ext cx="128016" cy="713232"/>
          </a:xfrm>
          <a:prstGeom prst="rect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960120" y="5257800"/>
            <a:ext cx="1027145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9E6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利用者がやらないこと： </a:t>
            </a:r>
            <a:r>
              <a:rPr lang="en-US" sz="1350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make setup / make init / make apply / make build などのセットアップ・構築操作は不要です。デプロイ済みのジョブを実行するだけなので、上記2権限があればすぐ使えます。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3840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950976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FOR ADMIN ・ 利用者の追加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【管理者向け】利用者を追加する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billing-role-sync 利用ガイド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管理者が以下を実行して権限を付与します。&lt;NEW_USER_EMAIL&gt; と &lt;PROJECT_ID&gt; を置き換えてください。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権限の付与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0080" y="2633472"/>
            <a:ext cx="10911535" cy="2852928"/>
          </a:xfrm>
          <a:prstGeom prst="roundRect">
            <a:avLst>
              <a:gd name="adj" fmla="val 2244"/>
            </a:avLst>
          </a:prstGeom>
          <a:solidFill>
            <a:srgbClr val="0E2233"/>
          </a:solidFill>
          <a:ln/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896112" y="2798064"/>
            <a:ext cx="10399471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FA8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① ジョブの実行権限を付与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7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gcloud run jobs add-iam-policy-binding billing-role-sync-job \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7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--region=asia-northeast1 --project=&lt;PROJECT_ID&gt; \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7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--member="user:&lt;NEW_USER_EMAIL&gt;" --role="roles/run.invoker"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7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FA8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② ログ閲覧権限を付与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7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gcloud storage buckets add-iam-policy-binding \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7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gs://&lt;PROJECT_ID&gt;-billing-role-sync-logs \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7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--member="user:&lt;NEW_USER_EMAIL&gt;" --role="roles/storage.objectViewer"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5532120"/>
            <a:ext cx="10911535" cy="566928"/>
          </a:xfrm>
          <a:prstGeom prst="roundRect">
            <a:avLst>
              <a:gd name="adj" fmla="val 1129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14400" y="5532120"/>
            <a:ext cx="1036289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08A1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取り消すとき： </a:t>
            </a:r>
            <a:r>
              <a:rPr lang="en-US" sz="1300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同じコマンドの add-iam-policy-binding を remove-iam-policy-binding に変えて実行します。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3840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950976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METHOD A ・ Cloud Shell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方法A：はじめての起動（初回のみ）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billing-role-sync 利用ガイド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40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188366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Cloud Console を開きプロジェクトを選択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1280160" y="226771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console.cloud.google.com にアクセスし、対象プロジェクトを選びます。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2999232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4008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80160" y="2962656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Cloud Shell をアクティブ化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1280160" y="334670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右上の「&gt;_」アイコンをクリック。ブラウザ内にターミナルが開きます。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078224"/>
            <a:ext cx="457200" cy="457200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640080" y="40782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80160" y="4041648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リポジトリをクローン（初回のみ）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280160" y="4425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下記コマンドでツールを取得し、フォルダへ移動します。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101840" y="1965960"/>
            <a:ext cx="4449775" cy="2121409"/>
          </a:xfrm>
          <a:prstGeom prst="roundRect">
            <a:avLst>
              <a:gd name="adj" fmla="val 2564"/>
            </a:avLst>
          </a:prstGeom>
          <a:solidFill>
            <a:srgbClr val="0E2233"/>
          </a:solidFill>
          <a:ln/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7396480" y="2130552"/>
            <a:ext cx="3972255" cy="15910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FA8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初回のみ：取得して移動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FE0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git clone &lt;リポジトリURL&gt;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FE0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cd billing-role-sync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7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FA8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プロジェクトを指定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FE0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gcloud config set project</a:t>
            </a:r>
            <a:r>
              <a:rPr lang="en-US" sz="1250" dirty="0">
                <a:solidFill>
                  <a:srgbClr val="DCE7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&lt;PROJECT_ID&gt;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0080" y="5486400"/>
            <a:ext cx="10911535" cy="658368"/>
          </a:xfrm>
          <a:prstGeom prst="roundRect">
            <a:avLst>
              <a:gd name="adj" fmla="val 9722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640080" y="5614416"/>
            <a:ext cx="128016" cy="40233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960120" y="5486400"/>
            <a:ext cx="1027145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ヒント： </a:t>
            </a:r>
            <a:r>
              <a:rPr lang="en-US" sz="1300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Cloud Shell のホーム(~)は保存されるので、クローンしたフォルダは次回も残ります。インストール作業は一切不要です。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3840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950976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METHOD A ・ Cloud Shell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方法A：2回目以降の起動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billing-role-sync 利用ガイド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2回目以降はクローン不要。フォルダへ移動するだけで使えます。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40080" y="2377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80160" y="234086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Cloud Shell を起動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1280160" y="274320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前回と同様に「&gt;_」アイコンから起動します。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4290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40080" y="3429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80160" y="339242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フォルダへ移動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280160" y="379476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既にクローン済みのディレクトリに入ります。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40080" y="4480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80160" y="4443984"/>
            <a:ext cx="6949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（任意）最新版を取得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1280160" y="48463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更新があれば git pull で取り込みます。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7955280" y="2468880"/>
            <a:ext cx="3596335" cy="1938528"/>
          </a:xfrm>
          <a:prstGeom prst="roundRect">
            <a:avLst>
              <a:gd name="adj" fmla="val 3302"/>
            </a:avLst>
          </a:prstGeom>
          <a:solidFill>
            <a:srgbClr val="0E2233"/>
          </a:solidFill>
          <a:ln/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8211312" y="2633472"/>
            <a:ext cx="3084271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FA8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2回目以降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7FE0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cd ~/billing-role-sync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DCE7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6FA8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最新版にする場合のみ</a:t>
            </a:r>
            <a:endParaRPr lang="en-US" sz="13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300" dirty="0">
                <a:solidFill>
                  <a:srgbClr val="7FE0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git pull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40080" y="5532120"/>
            <a:ext cx="10911535" cy="640080"/>
          </a:xfrm>
          <a:prstGeom prst="roundRect">
            <a:avLst>
              <a:gd name="adj" fmla="val 10000"/>
            </a:avLst>
          </a:prstGeom>
          <a:solidFill>
            <a:srgbClr val="EAF6F0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3" name="Text 21"/>
          <p:cNvSpPr/>
          <p:nvPr/>
        </p:nvSpPr>
        <p:spPr>
          <a:xfrm>
            <a:off x="960120" y="5532120"/>
            <a:ext cx="1027145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9E6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準備完了！ </a:t>
            </a:r>
            <a:r>
              <a:rPr lang="en-US" sz="1350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ここまでできたら、次ページ以降の make コマンドで日常操作を行えます。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3840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950976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DAILY ・ 日常操作 ①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対象ユーザーの確認（変更なし）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billing-role-sync 利用ガイド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まずは Dry-Run。「誰が変更対象か」を表示するだけで、権限は一切変わりません。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2331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全顧客を対象に確認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670048"/>
            <a:ext cx="10911535" cy="694944"/>
          </a:xfrm>
          <a:prstGeom prst="roundRect">
            <a:avLst>
              <a:gd name="adj" fmla="val 9211"/>
            </a:avLst>
          </a:prstGeom>
          <a:solidFill>
            <a:srgbClr val="0E2233"/>
          </a:solidFill>
          <a:ln/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Text 8"/>
          <p:cNvSpPr/>
          <p:nvPr/>
        </p:nvSpPr>
        <p:spPr>
          <a:xfrm>
            <a:off x="896112" y="2834640"/>
            <a:ext cx="10399471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7FE0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make run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3520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5A8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特定の顧客ドメインだけ確認（カンマ区切りで複数可）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58768"/>
            <a:ext cx="10911535" cy="1005840"/>
          </a:xfrm>
          <a:prstGeom prst="roundRect">
            <a:avLst>
              <a:gd name="adj" fmla="val 6364"/>
            </a:avLst>
          </a:prstGeom>
          <a:solidFill>
            <a:srgbClr val="0E2233"/>
          </a:solidFill>
          <a:ln/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896112" y="4023360"/>
            <a:ext cx="10399471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7FE0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make run-domain DOMAINS=customer-a.com</a:t>
            </a:r>
            <a:endParaRPr lang="en-US" sz="14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7FE0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make run-domain DOMAINS=customer-a.com,customer-b.co.jp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40080" y="5349240"/>
            <a:ext cx="10911535" cy="868680"/>
          </a:xfrm>
          <a:prstGeom prst="roundRect">
            <a:avLst>
              <a:gd name="adj" fmla="val 7368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3"/>
          <p:cNvSpPr/>
          <p:nvPr/>
        </p:nvSpPr>
        <p:spPr>
          <a:xfrm>
            <a:off x="640080" y="5513832"/>
            <a:ext cx="128016" cy="548640"/>
          </a:xfrm>
          <a:prstGeom prst="rect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Text 14"/>
          <p:cNvSpPr/>
          <p:nvPr/>
        </p:nvSpPr>
        <p:spPr>
          <a:xfrm>
            <a:off x="960120" y="5349240"/>
            <a:ext cx="1027145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E9E6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安全： </a:t>
            </a:r>
            <a:r>
              <a:rPr lang="en-US" sz="1350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make run 系はいくら実行しても権限は変わりません。出力に「(予定) + / - roles/...」と表示されるのが変更予定の内容です。気軽に確認できます。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3840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950976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DAILY ・ 日常操作 ②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権限変更の実行（本番）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billing-role-sync 利用ガイド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run-apply は自動で Dry-Run → 対象表示 → 確認の順に進み、yes を入力したときだけ変更します。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5212080" cy="2139696"/>
          </a:xfrm>
          <a:prstGeom prst="roundRect">
            <a:avLst>
              <a:gd name="adj" fmla="val 2991"/>
            </a:avLst>
          </a:prstGeom>
          <a:solidFill>
            <a:srgbClr val="0E2233"/>
          </a:solidFill>
          <a:ln/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896112" y="2542032"/>
            <a:ext cx="4700016" cy="1806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FA8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全顧客を変更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FE0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make run-apply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7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FA8C7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# 特定ドメインのみ変更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7FE0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make run-apply-domain \</a:t>
            </a:r>
            <a:endParaRPr lang="en-US" sz="125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DCE7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DOMAINS=customer-a.com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309360" y="2331720"/>
            <a:ext cx="5242255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EEF3"/>
            </a:solidFill>
            <a:prstDash val="solid"/>
          </a:ln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9"/>
          <p:cNvSpPr/>
          <p:nvPr/>
        </p:nvSpPr>
        <p:spPr>
          <a:xfrm>
            <a:off x="6473952" y="2478024"/>
            <a:ext cx="420624" cy="420624"/>
          </a:xfrm>
          <a:prstGeom prst="ellipse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6473952" y="247802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40880" y="242316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Dry-Run 自動実行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9829800" y="2423160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対象を洗い出し（約30〜60秒）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601968" y="3026664"/>
            <a:ext cx="164592" cy="182880"/>
          </a:xfrm>
          <a:prstGeom prst="downArrow">
            <a:avLst/>
          </a:prstGeom>
          <a:solidFill>
            <a:srgbClr val="C3D0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6309360" y="3182112"/>
            <a:ext cx="5242255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EEF3"/>
            </a:solidFill>
            <a:prstDash val="solid"/>
          </a:ln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5"/>
          <p:cNvSpPr/>
          <p:nvPr/>
        </p:nvSpPr>
        <p:spPr>
          <a:xfrm>
            <a:off x="6473952" y="332841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6473952" y="33284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040880" y="327355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対象一覧を画面表示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9829800" y="3273552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(予定) + / - roles/... を確認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6601968" y="3877056"/>
            <a:ext cx="164592" cy="182880"/>
          </a:xfrm>
          <a:prstGeom prst="downArrow">
            <a:avLst/>
          </a:prstGeom>
          <a:solidFill>
            <a:srgbClr val="C3D0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Shape 20"/>
          <p:cNvSpPr/>
          <p:nvPr/>
        </p:nvSpPr>
        <p:spPr>
          <a:xfrm>
            <a:off x="6309360" y="4032504"/>
            <a:ext cx="5242255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EEF3"/>
            </a:solidFill>
            <a:prstDash val="solid"/>
          </a:ln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3" name="Shape 21"/>
          <p:cNvSpPr/>
          <p:nvPr/>
        </p:nvSpPr>
        <p:spPr>
          <a:xfrm>
            <a:off x="6473952" y="4178808"/>
            <a:ext cx="420624" cy="420624"/>
          </a:xfrm>
          <a:prstGeom prst="ellipse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22"/>
          <p:cNvSpPr/>
          <p:nvPr/>
        </p:nvSpPr>
        <p:spPr>
          <a:xfrm>
            <a:off x="6473952" y="41788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040880" y="4123944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確認プロンプト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9829800" y="4123944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「yes」を入力しないと進まない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601968" y="4727448"/>
            <a:ext cx="164592" cy="182880"/>
          </a:xfrm>
          <a:prstGeom prst="downArrow">
            <a:avLst/>
          </a:prstGeom>
          <a:solidFill>
            <a:srgbClr val="C3D0DA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8" name="Shape 26"/>
          <p:cNvSpPr/>
          <p:nvPr/>
        </p:nvSpPr>
        <p:spPr>
          <a:xfrm>
            <a:off x="6309360" y="4882896"/>
            <a:ext cx="5242255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8EEF3"/>
            </a:solidFill>
            <a:prstDash val="solid"/>
          </a:ln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6473952" y="5029200"/>
            <a:ext cx="420624" cy="420624"/>
          </a:xfrm>
          <a:prstGeom prst="ellipse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6473952" y="50292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040880" y="4974336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本番実行</a:t>
            </a:r>
            <a:endParaRPr lang="en-US" sz="1450" dirty="0"/>
          </a:p>
        </p:txBody>
      </p:sp>
      <p:sp>
        <p:nvSpPr>
          <p:cNvPr id="32" name="Text 30"/>
          <p:cNvSpPr/>
          <p:nvPr/>
        </p:nvSpPr>
        <p:spPr>
          <a:xfrm>
            <a:off x="9829800" y="4974336"/>
            <a:ext cx="16303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yes のときだけ権限を変更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0080" y="5742432"/>
            <a:ext cx="5212080" cy="512064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868680" y="5742432"/>
            <a:ext cx="4754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08A1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キャンセル： </a:t>
            </a:r>
            <a:r>
              <a:rPr lang="en-US" sz="1200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no や Ctrl+C で中断すれば変更されません。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3840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950976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DAILY ・ 日常操作 ③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ログの確認（make logs）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billing-role-sync 利用ガイド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実行結果は GCS に自動保存されます。あとから「誰が・いつ・何をしたか」を確認できます。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52271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EF3"/>
            </a:solidFill>
            <a:prstDash val="solid"/>
          </a:ln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914400" y="256032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65A8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直近の実行ログを表示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3035808"/>
            <a:ext cx="4678528" cy="493776"/>
          </a:xfrm>
          <a:prstGeom prst="roundRect">
            <a:avLst>
              <a:gd name="adj" fmla="val 9211"/>
            </a:avLst>
          </a:prstGeom>
          <a:solidFill>
            <a:srgbClr val="0E2233"/>
          </a:solidFill>
          <a:ln/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1170432" y="3200400"/>
            <a:ext cx="416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7FE0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make logs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324448" y="2377440"/>
            <a:ext cx="5227168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E8EEF3"/>
            </a:solidFill>
            <a:prstDash val="solid"/>
          </a:ln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598768" y="2560320"/>
            <a:ext cx="4678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C729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過去のログ一覧を表示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598768" y="3035808"/>
            <a:ext cx="4678528" cy="493776"/>
          </a:xfrm>
          <a:prstGeom prst="roundRect">
            <a:avLst>
              <a:gd name="adj" fmla="val 9211"/>
            </a:avLst>
          </a:prstGeom>
          <a:solidFill>
            <a:srgbClr val="0E2233"/>
          </a:solidFill>
          <a:ln/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6854800" y="3200400"/>
            <a:ext cx="416646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7FE0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$ make logs-list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3886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ログの中身（例）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40080" y="4206240"/>
            <a:ext cx="10911535" cy="1481328"/>
          </a:xfrm>
          <a:prstGeom prst="roundRect">
            <a:avLst>
              <a:gd name="adj" fmla="val 4321"/>
            </a:avLst>
          </a:prstGeom>
          <a:solidFill>
            <a:srgbClr val="0E2233"/>
          </a:solidFill>
          <a:ln/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6"/>
          <p:cNvSpPr/>
          <p:nvPr/>
        </p:nvSpPr>
        <p:spPr>
          <a:xfrm>
            <a:off x="896112" y="4370832"/>
            <a:ext cx="10399471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E7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[INFO] 2026-06-02 14:23:01 処理開始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E7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[INFO] 2026-06-02 14:23:01 実行者             : tanaka@e-agency.co.jp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E7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[INFO] 2026-06-02 14:23:01 対象ユーザー検出: user:sato@customer-a.com</a:t>
            </a:r>
            <a:endParaRPr lang="en-US" sz="1200" dirty="0"/>
          </a:p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DCE7EF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    (予定) + roles/billing.user  /  (予定) - roles/billing.admin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760720"/>
            <a:ext cx="10911535" cy="512064"/>
          </a:xfrm>
          <a:prstGeom prst="roundRect">
            <a:avLst>
              <a:gd name="adj" fmla="val 10714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8"/>
          <p:cNvSpPr/>
          <p:nvPr/>
        </p:nvSpPr>
        <p:spPr>
          <a:xfrm>
            <a:off x="914400" y="5760720"/>
            <a:ext cx="1036289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65A8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保存先： </a:t>
            </a:r>
            <a:r>
              <a:rPr lang="en-US" sz="1250" dirty="0">
                <a:solidFill>
                  <a:srgbClr val="1E293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gs://{project}-billing-role-sync-logs/  </a:t>
            </a:r>
            <a:r>
              <a:rPr lang="en-US" sz="125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（Cloud Console の Cloud Storage 画面からも閲覧可・365日後に自動削除）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3840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950976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METHOD C ・ Cloud Console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方法C：ボタン操作で実行（コマンド不要）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billing-role-sync 利用ガイド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ターミナルを使いたくない人向け。ブラウザの UI だけでジョブを実行できます。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640080" y="22402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43584" y="218541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Cloud Run Jobs を開く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43584" y="2551176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Console の「Cloud Run」→「ジョブ」を開きます。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3026664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40080" y="30266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43584" y="297180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対象ジョブを選ぶ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43584" y="33375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billing-role-sync-job をクリックします。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3813048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640080" y="3813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243584" y="375818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</a:t>
            </a:r>
            <a:r>
              <a:rPr lang="en-US" sz="1600" b="1" dirty="0" err="1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ジョブ構成の表示と編集」をクリック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43584" y="4123944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上部の「実行」ボタンを押します。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40080" y="4599432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40080" y="459943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243584" y="454456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環境変数を展開して設定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243584" y="4910328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「コンテナ、変数とシークレット…」を開き、次ページの表のとおり設定。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5385816"/>
            <a:ext cx="420624" cy="420624"/>
          </a:xfrm>
          <a:prstGeom prst="ellipse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Text 23"/>
          <p:cNvSpPr/>
          <p:nvPr/>
        </p:nvSpPr>
        <p:spPr>
          <a:xfrm>
            <a:off x="640080" y="53858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5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43584" y="533095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「実行」で開始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43584" y="5696712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実行履歴で結果（成功/失敗）を確認します。</a:t>
            </a:r>
            <a:endParaRPr lang="en-US" sz="1250" dirty="0"/>
          </a:p>
        </p:txBody>
      </p:sp>
      <p:pic>
        <p:nvPicPr>
          <p:cNvPr id="29" name="図 28" descr="グラフィカル ユーザー インターフェイス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1C17637C-C399-A7AD-D3D1-9E19888BB1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296" t="7877"/>
          <a:stretch/>
        </p:blipFill>
        <p:spPr>
          <a:xfrm>
            <a:off x="7752079" y="1943746"/>
            <a:ext cx="3616655" cy="115832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1" name="図 30" descr="グラフィカル ユーザー インターフェイス, テキスト, アプリケーション, メール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923C1614-CA6C-1A91-48FC-1DBC1CBB5E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867" y="2625221"/>
            <a:ext cx="3205130" cy="220227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33" name="図 32" descr="グラフィカル ユーザー インターフェイス, テキスト, アプリケーション&#10;&#10;AI によって生成されたコンテンツは間違っている可能性があります。">
            <a:extLst>
              <a:ext uri="{FF2B5EF4-FFF2-40B4-BE49-F238E27FC236}">
                <a16:creationId xmlns:a16="http://schemas.microsoft.com/office/drawing/2014/main" id="{84196310-C0E5-EE66-D40A-BD4FADDE5C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9174" y="3322588"/>
            <a:ext cx="3319560" cy="298677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3840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950976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METHOD C ・ Cloud Console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方法C：環境変数の設定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billing-role-sync 利用ガイド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783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「環境変数」に以下を設定して、確認だけ／本番、全顧客／特定ドメインを切り替えます。</a:t>
            </a:r>
            <a:endParaRPr lang="en-US" sz="15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468880"/>
          <a:ext cx="10911535" cy="2770632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59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実行内容</a:t>
                      </a:r>
                      <a:endParaRPr lang="en-US" sz="14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APPLY_MODE</a:t>
                      </a:r>
                      <a:endParaRPr lang="en-US" sz="14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TARGET_DOMAINS</a:t>
                      </a:r>
                      <a:endParaRPr lang="en-US" sz="140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Dry-Run（全顧客）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64748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false（既定）</a:t>
                      </a:r>
                      <a:endParaRPr lang="en-US" sz="13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64748B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（空のまま）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Dry-Run（特定ドメイン）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64748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false（既定）</a:t>
                      </a:r>
                      <a:endParaRPr lang="en-US" sz="13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customer-a.com,customer-b.co.jp</a:t>
                      </a:r>
                      <a:endParaRPr lang="en-US" sz="13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B23B2E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本番（全顧客）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B23B2E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true</a:t>
                      </a:r>
                      <a:endParaRPr lang="en-US" sz="13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64748B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（空のまま）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B23B2E"/>
                          </a:solidFill>
                          <a:latin typeface="Hiragino Kaku Gothic ProN" pitchFamily="34" charset="0"/>
                          <a:ea typeface="Hiragino Kaku Gothic ProN" pitchFamily="34" charset="-122"/>
                          <a:cs typeface="Hiragino Kaku Gothic ProN" pitchFamily="34" charset="-120"/>
                        </a:rPr>
                        <a:t>本番（特定ドメイン）</a:t>
                      </a:r>
                      <a:endParaRPr lang="en-US" sz="1350" dirty="0">
                        <a:latin typeface="Hiragino Kaku Gothic ProN" charset="0"/>
                        <a:ea typeface="Hiragino Kaku Gothic ProN" charset="0"/>
                        <a:cs typeface="Hiragino Kaku Gothic ProN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B23B2E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true</a:t>
                      </a:r>
                      <a:endParaRPr lang="en-US" sz="13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50" dirty="0">
                          <a:solidFill>
                            <a:srgbClr val="1E293B"/>
                          </a:solidFill>
                          <a:latin typeface="Menlo" pitchFamily="34" charset="0"/>
                          <a:ea typeface="Menlo" pitchFamily="34" charset="-122"/>
                          <a:cs typeface="Menlo" pitchFamily="34" charset="-120"/>
                        </a:rPr>
                        <a:t>customer-a.com</a:t>
                      </a:r>
                      <a:endParaRPr lang="en-US" sz="1350" dirty="0">
                        <a:latin typeface="Menlo" charset="0"/>
                        <a:ea typeface="Menlo" charset="0"/>
                        <a:cs typeface="Menlo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8EEF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40080" y="5504688"/>
            <a:ext cx="10911535" cy="749808"/>
          </a:xfrm>
          <a:prstGeom prst="roundRect">
            <a:avLst>
              <a:gd name="adj" fmla="val 9756"/>
            </a:avLst>
          </a:prstGeom>
          <a:solidFill>
            <a:srgbClr val="FBF1E0"/>
          </a:solidFill>
          <a:ln w="12700">
            <a:solidFill>
              <a:srgbClr val="E08A1E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640080" y="5650992"/>
            <a:ext cx="128016" cy="457200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1" name="Text 8"/>
          <p:cNvSpPr/>
          <p:nvPr/>
        </p:nvSpPr>
        <p:spPr>
          <a:xfrm>
            <a:off x="960120" y="5504688"/>
            <a:ext cx="1027145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26A1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⚠ 注意： </a:t>
            </a:r>
            <a:r>
              <a:rPr lang="en-US" sz="1300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Console 実行では make run-apply のような確認プロンプトが出ません。APPLY_MODE=true にする前に、必ず Dry-Run（false）で対象を確認してください。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66928"/>
            <a:ext cx="201168" cy="384048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Text 1"/>
          <p:cNvSpPr/>
          <p:nvPr/>
        </p:nvSpPr>
        <p:spPr>
          <a:xfrm>
            <a:off x="950976" y="548640"/>
            <a:ext cx="82296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C729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TROUBLESHOOTING ・ 困ったとき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950976"/>
            <a:ext cx="1091153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うまくいかないときは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368735" y="635508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63550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billing-role-sync 利用ガイド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40080" y="1965960"/>
            <a:ext cx="522716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8EEF3"/>
            </a:solidFill>
            <a:prstDash val="solid"/>
          </a:ln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640080" y="2194560"/>
            <a:ext cx="146304" cy="1325880"/>
          </a:xfrm>
          <a:prstGeom prst="rect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005840" y="2167128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2E9E6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Q. </a:t>
            </a:r>
            <a:r>
              <a:rPr lang="en-US" sz="155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対象ユーザーが表示されない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005840" y="2807208"/>
            <a:ext cx="463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A. </a:t>
            </a:r>
            <a:r>
              <a:rPr lang="en-US" sz="125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対象サブアカウントに billing.admin の user: がいない場合は正常です。ドメイン指定時は、そのドメインの該当者がいない可能性も。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24448" y="1965960"/>
            <a:ext cx="522716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8EEF3"/>
            </a:solidFill>
            <a:prstDash val="solid"/>
          </a:ln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10"/>
          <p:cNvSpPr/>
          <p:nvPr/>
        </p:nvSpPr>
        <p:spPr>
          <a:xfrm>
            <a:off x="6324448" y="2194560"/>
            <a:ext cx="146304" cy="1325880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6690208" y="2167128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E08A1E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Q. </a:t>
            </a:r>
            <a:r>
              <a:rPr lang="en-US" sz="155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ジョブが「失敗（FAILED）」になった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690208" y="2807208"/>
            <a:ext cx="463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A. </a:t>
            </a:r>
            <a:r>
              <a:rPr lang="en-US" sz="125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まず make logs でログを確認。権限不足の場合は管理者に連絡してください（利用者側では解決できないことが多い）。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40080" y="4069080"/>
            <a:ext cx="522716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8EEF3"/>
            </a:solidFill>
            <a:prstDash val="solid"/>
          </a:ln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146304" cy="132588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005840" y="4270248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065A8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Q. </a:t>
            </a:r>
            <a:r>
              <a:rPr lang="en-US" sz="155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権限エラー（403）が出る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05840" y="4910328"/>
            <a:ext cx="463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A. </a:t>
            </a:r>
            <a:r>
              <a:rPr lang="en-US" sz="125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run.invoker / storage.objectViewer が未付与の可能性。管理者にP.5〜6の権限付与を依頼してください。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324448" y="4069080"/>
            <a:ext cx="522716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E8EEF3"/>
            </a:solidFill>
            <a:prstDash val="solid"/>
          </a:ln>
          <a:effectLst>
            <a:outerShdw blurRad="114300" dist="38100" dir="5400000" algn="bl" rotWithShape="0">
              <a:srgbClr val="0B2B45">
                <a:alpha val="16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8"/>
          <p:cNvSpPr/>
          <p:nvPr/>
        </p:nvSpPr>
        <p:spPr>
          <a:xfrm>
            <a:off x="6324448" y="4297680"/>
            <a:ext cx="146304" cy="13258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9"/>
          <p:cNvSpPr/>
          <p:nvPr/>
        </p:nvSpPr>
        <p:spPr>
          <a:xfrm>
            <a:off x="6690208" y="4270248"/>
            <a:ext cx="46328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50" b="1" dirty="0">
                <a:solidFill>
                  <a:srgbClr val="1C7293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Q. </a:t>
            </a:r>
            <a:r>
              <a:rPr lang="en-US" sz="1550" b="1" dirty="0">
                <a:solidFill>
                  <a:srgbClr val="1E293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コマンドが難しい・打ちたくない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690208" y="4910328"/>
            <a:ext cx="46328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A. </a:t>
            </a:r>
            <a:r>
              <a:rPr lang="en-US" sz="1250" dirty="0">
                <a:solidFill>
                  <a:srgbClr val="64748B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方法C（Cloud Console のボタン操作）に切り替えれば、コマンドなしで実行できます。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2B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" name="Shape 1"/>
          <p:cNvSpPr/>
          <p:nvPr/>
        </p:nvSpPr>
        <p:spPr>
          <a:xfrm>
            <a:off x="256032" y="0"/>
            <a:ext cx="91440" cy="6858000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4" name="Text 2"/>
          <p:cNvSpPr/>
          <p:nvPr/>
        </p:nvSpPr>
        <p:spPr>
          <a:xfrm>
            <a:off x="91440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9FD3E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CHEAT SHEET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10241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まとめ ― これだけ覚えればOK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1965960"/>
            <a:ext cx="6400800" cy="4114800"/>
          </a:xfrm>
          <a:prstGeom prst="roundRect">
            <a:avLst>
              <a:gd name="adj" fmla="val 2222"/>
            </a:avLst>
          </a:prstGeom>
          <a:solidFill>
            <a:srgbClr val="0E2233"/>
          </a:solidFill>
          <a:ln w="12700">
            <a:solidFill>
              <a:srgbClr val="1C7293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1280160" y="21945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FD3E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よく使うコマンド（方法A）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274320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FE0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make run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280160" y="302666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4D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対象を確認（全顧客・変更なし）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1280160" y="329184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FE0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make run-domain DOMAINS=a.com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1280160" y="357530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4D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対象を確認（特定ドメイン）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280160" y="384048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FE0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make run-apply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80160" y="412394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4D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権限を変更（確認後に本番）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280160" y="438912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FE0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make run-apply-domain DOMAINS=a.com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280160" y="467258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4D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特定ドメインだけ変更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1280160" y="493776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FE0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make logs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1280160" y="522122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4D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直近の実行ログを表示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1280160" y="5486400"/>
            <a:ext cx="5669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7FE0C0"/>
                </a:solidFill>
                <a:latin typeface="Menlo" pitchFamily="34" charset="0"/>
                <a:ea typeface="Menlo" pitchFamily="34" charset="-122"/>
                <a:cs typeface="Menlo" pitchFamily="34" charset="-120"/>
              </a:rPr>
              <a:t>make logs-list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280160" y="5769864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AFC4D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過去ログの一覧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680960" y="1965960"/>
            <a:ext cx="3687775" cy="786384"/>
          </a:xfrm>
          <a:prstGeom prst="roundRect">
            <a:avLst>
              <a:gd name="adj" fmla="val 9302"/>
            </a:avLst>
          </a:prstGeom>
          <a:solidFill>
            <a:srgbClr val="13344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7680960" y="2112264"/>
            <a:ext cx="128016" cy="493776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2" name="Text 20"/>
          <p:cNvSpPr/>
          <p:nvPr/>
        </p:nvSpPr>
        <p:spPr>
          <a:xfrm>
            <a:off x="8001000" y="2084832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迷ったら方法C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001000" y="2423160"/>
            <a:ext cx="3139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4D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コマンド不要。Console のボタンで実行。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680960" y="2898648"/>
            <a:ext cx="3687775" cy="786384"/>
          </a:xfrm>
          <a:prstGeom prst="roundRect">
            <a:avLst>
              <a:gd name="adj" fmla="val 9302"/>
            </a:avLst>
          </a:prstGeom>
          <a:solidFill>
            <a:srgbClr val="13344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5" name="Shape 23"/>
          <p:cNvSpPr/>
          <p:nvPr/>
        </p:nvSpPr>
        <p:spPr>
          <a:xfrm>
            <a:off x="7680960" y="3044952"/>
            <a:ext cx="128016" cy="493776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6" name="Text 24"/>
          <p:cNvSpPr/>
          <p:nvPr/>
        </p:nvSpPr>
        <p:spPr>
          <a:xfrm>
            <a:off x="8001000" y="3017520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まず確認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001000" y="3355848"/>
            <a:ext cx="3139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4D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make run / Dry-Run で対象を必ず先に見る。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680960" y="3831336"/>
            <a:ext cx="3687775" cy="786384"/>
          </a:xfrm>
          <a:prstGeom prst="roundRect">
            <a:avLst>
              <a:gd name="adj" fmla="val 9302"/>
            </a:avLst>
          </a:prstGeom>
          <a:solidFill>
            <a:srgbClr val="13344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9" name="Shape 27"/>
          <p:cNvSpPr/>
          <p:nvPr/>
        </p:nvSpPr>
        <p:spPr>
          <a:xfrm>
            <a:off x="7680960" y="3977640"/>
            <a:ext cx="128016" cy="493776"/>
          </a:xfrm>
          <a:prstGeom prst="rect">
            <a:avLst/>
          </a:prstGeom>
          <a:solidFill>
            <a:srgbClr val="E08A1E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0" name="Text 28"/>
          <p:cNvSpPr/>
          <p:nvPr/>
        </p:nvSpPr>
        <p:spPr>
          <a:xfrm>
            <a:off x="8001000" y="3950208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本番は yes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001000" y="4288536"/>
            <a:ext cx="3139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4D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run-apply は yes 入力でのみ変更。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7680960" y="4764024"/>
            <a:ext cx="3687775" cy="786384"/>
          </a:xfrm>
          <a:prstGeom prst="roundRect">
            <a:avLst>
              <a:gd name="adj" fmla="val 9302"/>
            </a:avLst>
          </a:prstGeom>
          <a:solidFill>
            <a:srgbClr val="13344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3" name="Shape 31"/>
          <p:cNvSpPr/>
          <p:nvPr/>
        </p:nvSpPr>
        <p:spPr>
          <a:xfrm>
            <a:off x="7680960" y="4910328"/>
            <a:ext cx="128016" cy="493776"/>
          </a:xfrm>
          <a:prstGeom prst="rect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34" name="Text 32"/>
          <p:cNvSpPr/>
          <p:nvPr/>
        </p:nvSpPr>
        <p:spPr>
          <a:xfrm>
            <a:off x="8001000" y="4882896"/>
            <a:ext cx="3139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記録は残る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001000" y="5221224"/>
            <a:ext cx="31391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FC4D2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実行は make logs と監査ログで追跡可能。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914400" y="63093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86A0"/>
                </a:solidFill>
                <a:latin typeface="Hiragino Kaku Gothic ProN" pitchFamily="34" charset="0"/>
                <a:ea typeface="Hiragino Kaku Gothic ProN" pitchFamily="34" charset="-122"/>
                <a:cs typeface="Hiragino Kaku Gothic ProN" pitchFamily="34" charset="-120"/>
              </a:rPr>
              <a:t>詳細は README.md を参照してください。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1203</Words>
  <Application>Microsoft Macintosh PowerPoint</Application>
  <PresentationFormat>ワイド画面</PresentationFormat>
  <Paragraphs>276</Paragraphs>
  <Slides>15</Slides>
  <Notes>15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15</vt:i4>
      </vt:variant>
    </vt:vector>
  </HeadingPairs>
  <TitlesOfParts>
    <vt:vector size="19" baseType="lpstr">
      <vt:lpstr>Hiragino Kaku Gothic ProN</vt:lpstr>
      <vt:lpstr>Arial</vt:lpstr>
      <vt:lpstr>Menlo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請求先IAM権限同期ツール 利用ガイド</dc:title>
  <dc:subject>PptxGenJS Presentation</dc:subject>
  <dc:creator>billing-role-sync</dc:creator>
  <cp:lastModifiedBy>光岡行秀</cp:lastModifiedBy>
  <cp:revision>3</cp:revision>
  <dcterms:created xsi:type="dcterms:W3CDTF">2026-06-02T17:18:56Z</dcterms:created>
  <dcterms:modified xsi:type="dcterms:W3CDTF">2026-06-02T19:09:07Z</dcterms:modified>
</cp:coreProperties>
</file>